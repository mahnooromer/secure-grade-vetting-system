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2E4A7A">
              <a:alpha val="40000"/>
            </a:srgbClr>
          </a:solidFill>
          <a:ln w="12700">
            <a:solidFill>
              <a:srgbClr val="4A7E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7223760" y="-457200"/>
            <a:ext cx="3657600" cy="3657600"/>
          </a:xfrm>
          <a:prstGeom prst="ellipse">
            <a:avLst/>
          </a:prstGeom>
          <a:solidFill>
            <a:srgbClr val="2E4A7A">
              <a:alpha val="28000"/>
            </a:srgbClr>
          </a:solidFill>
          <a:ln w="12700">
            <a:solidFill>
              <a:srgbClr val="4A7E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7818120" y="182880"/>
            <a:ext cx="2286000" cy="2286000"/>
          </a:xfrm>
          <a:prstGeom prst="ellipse">
            <a:avLst/>
          </a:prstGeom>
          <a:solidFill>
            <a:srgbClr val="4A7EC4">
              <a:alpha val="20000"/>
            </a:srgbClr>
          </a:solidFill>
          <a:ln w="12700">
            <a:solidFill>
              <a:srgbClr val="4A7E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1645920" y="2926080"/>
            <a:ext cx="3657600" cy="3657600"/>
          </a:xfrm>
          <a:prstGeom prst="ellipse">
            <a:avLst/>
          </a:prstGeom>
          <a:solidFill>
            <a:srgbClr val="2E4A7A">
              <a:alpha val="28000"/>
            </a:srgbClr>
          </a:solidFill>
          <a:ln w="12700">
            <a:solidFill>
              <a:srgbClr val="4A7E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1097280" y="3474720"/>
            <a:ext cx="2286000" cy="2286000"/>
          </a:xfrm>
          <a:prstGeom prst="ellipse">
            <a:avLst/>
          </a:prstGeom>
          <a:solidFill>
            <a:srgbClr val="4A7EC4">
              <a:alpha val="18000"/>
            </a:srgbClr>
          </a:solidFill>
          <a:ln w="12700">
            <a:solidFill>
              <a:srgbClr val="4A7E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4864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45720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Digital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280160" y="1115568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Vetting System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1280160" y="192024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9E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Tamper-Evident Platform for Academic Integrity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80160" y="2395728"/>
            <a:ext cx="5486400" cy="27432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1280160" y="25420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8A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Software Development  ·  CY321  ·  CLO3 – GA-4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80160" y="2926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Bushra Naz  |  M Shariq Saqib   |   Mahnoor Omer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329184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GIKI — Ghulam Ishaq Khan Institute  ·  05 May 2026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280160" y="416052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4A7EC4">
              <a:alpha val="70000"/>
            </a:srgbClr>
          </a:solidFill>
          <a:ln w="12700">
            <a:solidFill>
              <a:srgbClr val="4A7E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1280160" y="41605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 Tests Run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0" y="416052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15803D">
              <a:alpha val="70000"/>
            </a:srgbClr>
          </a:solidFill>
          <a:ln w="12700">
            <a:solidFill>
              <a:srgbClr val="15803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3657600" y="41605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 Pass Rate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35040" y="416052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2E4A7A">
              <a:alpha val="70000"/>
            </a:srgbClr>
          </a:solidFill>
          <a:ln w="12700">
            <a:solidFill>
              <a:srgbClr val="2E4A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6035040" y="41605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Critical Vulns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560320" cy="256032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91440" y="4114800"/>
            <a:ext cx="1463040" cy="146304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73152"/>
            <a:ext cx="8046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does this system exist?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109728" cy="35204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02920" y="1261872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1691640"/>
            <a:ext cx="374904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records can be silently altered without detection
</a:t>
            </a: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cryptographic proof of who submitted or approved a grade
</a:t>
            </a: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access controls allow role violations
</a:t>
            </a: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trails are absent or easy to manipulate
</a:t>
            </a: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Plain-text credential storage in legacy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114800" cy="3520440"/>
          </a:xfrm>
          <a:prstGeom prst="rect">
            <a:avLst/>
          </a:prstGeom>
          <a:solidFill>
            <a:srgbClr val="F0F4FB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109728" cy="3520440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983480" y="1261872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1691640"/>
            <a:ext cx="374904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hashing 
</a:t>
            </a:r>
            <a:r>
              <a:rPr lang="en-US" sz="13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signatures on every grade submission
</a:t>
            </a:r>
            <a:r>
              <a:rPr lang="en-US" sz="13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JWT-based RBAC enforced at every endpoint
</a:t>
            </a:r>
            <a:r>
              <a:rPr lang="en-US" sz="13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Immutable, verifiable audit trail via verify_logs.js
</a:t>
            </a:r>
            <a:r>
              <a:rPr lang="en-US" sz="13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3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bcrypt hashing + Zod schema validation throughout</a:t>
            </a:r>
            <a:endParaRPr lang="en-US" sz="13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5603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560320" cy="256032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91440" y="4114800"/>
            <a:ext cx="1463040" cy="146304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73152"/>
            <a:ext cx="8046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 &amp;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20040" y="11430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159105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+ Express.js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184708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runtime &amp; API framework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221992"/>
            <a:ext cx="4023360" cy="594360"/>
          </a:xfrm>
          <a:prstGeom prst="rect">
            <a:avLst/>
          </a:prstGeom>
          <a:solidFill>
            <a:srgbClr val="F0F4FB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1343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0120" y="227685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(3 tables)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60120" y="253288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secure database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0040" y="290779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9923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296265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+ bcryptjs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60120" y="321868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&amp; password hashing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20040" y="3593592"/>
            <a:ext cx="4023360" cy="594360"/>
          </a:xfrm>
          <a:prstGeom prst="rect">
            <a:avLst/>
          </a:prstGeom>
          <a:solidFill>
            <a:srgbClr val="F0F4FB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8503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64845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Helmet + Rate Limit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60120" y="390448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headers &amp; brute-force protection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" y="427939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370832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0120" y="433425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Zod Validation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60120" y="459028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schema enforcement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Architecture Layers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4754880" y="1536192"/>
            <a:ext cx="4023360" cy="438912"/>
          </a:xfrm>
          <a:prstGeom prst="rect">
            <a:avLst/>
          </a:prstGeom>
          <a:solidFill>
            <a:srgbClr val="DDE8F7"/>
          </a:solidFill>
          <a:ln w="1270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26"/>
          <p:cNvSpPr/>
          <p:nvPr/>
        </p:nvSpPr>
        <p:spPr>
          <a:xfrm>
            <a:off x="4846320" y="153619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/ Client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6537960" y="1975104"/>
            <a:ext cx="73152" cy="91440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28"/>
          <p:cNvSpPr/>
          <p:nvPr/>
        </p:nvSpPr>
        <p:spPr>
          <a:xfrm>
            <a:off x="4754880" y="2066544"/>
            <a:ext cx="4023360" cy="438912"/>
          </a:xfrm>
          <a:prstGeom prst="rect">
            <a:avLst/>
          </a:prstGeom>
          <a:solidFill>
            <a:srgbClr val="4A7EC4"/>
          </a:solidFill>
          <a:ln w="1270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29"/>
          <p:cNvSpPr/>
          <p:nvPr/>
        </p:nvSpPr>
        <p:spPr>
          <a:xfrm>
            <a:off x="4846320" y="2066544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 / TLS 1.3 Channel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6537960" y="2505456"/>
            <a:ext cx="73152" cy="91440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1"/>
          <p:cNvSpPr/>
          <p:nvPr/>
        </p:nvSpPr>
        <p:spPr>
          <a:xfrm>
            <a:off x="4754880" y="2596896"/>
            <a:ext cx="4023360" cy="438912"/>
          </a:xfrm>
          <a:prstGeom prst="rect">
            <a:avLst/>
          </a:prstGeom>
          <a:solidFill>
            <a:srgbClr val="F0F4FB"/>
          </a:solidFill>
          <a:ln w="1270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2"/>
          <p:cNvSpPr/>
          <p:nvPr/>
        </p:nvSpPr>
        <p:spPr>
          <a:xfrm>
            <a:off x="4846320" y="2596896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Helmet + Rate Limiter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6537960" y="3035808"/>
            <a:ext cx="73152" cy="91440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4"/>
          <p:cNvSpPr/>
          <p:nvPr/>
        </p:nvSpPr>
        <p:spPr>
          <a:xfrm>
            <a:off x="4754880" y="3127248"/>
            <a:ext cx="4023360" cy="438912"/>
          </a:xfrm>
          <a:prstGeom prst="rect">
            <a:avLst/>
          </a:prstGeom>
          <a:solidFill>
            <a:srgbClr val="DDE8F7"/>
          </a:solidFill>
          <a:ln w="1270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35"/>
          <p:cNvSpPr/>
          <p:nvPr/>
        </p:nvSpPr>
        <p:spPr>
          <a:xfrm>
            <a:off x="4846320" y="3127248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&amp; Role Middleware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6537960" y="3566160"/>
            <a:ext cx="73152" cy="91440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 37"/>
          <p:cNvSpPr/>
          <p:nvPr/>
        </p:nvSpPr>
        <p:spPr>
          <a:xfrm>
            <a:off x="4754880" y="3657600"/>
            <a:ext cx="4023360" cy="438912"/>
          </a:xfrm>
          <a:prstGeom prst="rect">
            <a:avLst/>
          </a:prstGeom>
          <a:solidFill>
            <a:srgbClr val="F0F4FB"/>
          </a:solidFill>
          <a:ln w="1270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38"/>
          <p:cNvSpPr/>
          <p:nvPr/>
        </p:nvSpPr>
        <p:spPr>
          <a:xfrm>
            <a:off x="4846320" y="3657600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 + Zod Validation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6537960" y="4096512"/>
            <a:ext cx="73152" cy="91440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40"/>
          <p:cNvSpPr/>
          <p:nvPr/>
        </p:nvSpPr>
        <p:spPr>
          <a:xfrm>
            <a:off x="4754880" y="4187952"/>
            <a:ext cx="4023360" cy="438912"/>
          </a:xfrm>
          <a:prstGeom prst="rect">
            <a:avLst/>
          </a:prstGeom>
          <a:solidFill>
            <a:srgbClr val="1B2B4B"/>
          </a:solidFill>
          <a:ln w="1270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1"/>
          <p:cNvSpPr/>
          <p:nvPr/>
        </p:nvSpPr>
        <p:spPr>
          <a:xfrm>
            <a:off x="4846320" y="418795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+ Audit Logger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560320" cy="256032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91440" y="4114800"/>
            <a:ext cx="1463040" cy="146304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73152"/>
            <a:ext cx="8046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Security Features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Defence-in-depth across every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274320" y="1115568"/>
            <a:ext cx="2788920" cy="54864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" y="124358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Tamper-Evident Audit Logs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11480" y="1709928"/>
            <a:ext cx="2542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Blockchain-style SHA-256 chained log entries. Any deletion or edit breaks the chain and is detectable.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0" y="1115568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3200400" y="1115568"/>
            <a:ext cx="2788920" cy="54864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80160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67328" y="124358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Control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337560" y="1709928"/>
            <a:ext cx="2542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roles (Student/Instructor/HoD/Admin). Every endpoint checks both JWT validity and exact role match.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1115568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7"/>
          <p:cNvSpPr/>
          <p:nvPr/>
        </p:nvSpPr>
        <p:spPr>
          <a:xfrm>
            <a:off x="6126480" y="1115568"/>
            <a:ext cx="2788920" cy="54864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93408" y="124358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Grade Signatures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263640" y="1709928"/>
            <a:ext cx="2542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signature combining payload + instructor ID + timestamp stored on every grade record.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74320" y="2898648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1"/>
          <p:cNvSpPr/>
          <p:nvPr/>
        </p:nvSpPr>
        <p:spPr>
          <a:xfrm>
            <a:off x="274320" y="2898648"/>
            <a:ext cx="2788920" cy="54864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6324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41248" y="302666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bcrypt Password Hashing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11480" y="3493008"/>
            <a:ext cx="2542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factor 10 ensures passwords are never reversible. Plain-text never persisted or logged.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00400" y="2898648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Shape 25"/>
          <p:cNvSpPr/>
          <p:nvPr/>
        </p:nvSpPr>
        <p:spPr>
          <a:xfrm>
            <a:off x="3200400" y="2898648"/>
            <a:ext cx="2788920" cy="54864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063240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67328" y="302666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Zod Schema Validation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3337560" y="3493008"/>
            <a:ext cx="2542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schema enforcement at the API boundary — invalid inputs return HTTP 400 before business logic runs.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26480" y="2898648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Shape 29"/>
          <p:cNvSpPr/>
          <p:nvPr/>
        </p:nvSpPr>
        <p:spPr>
          <a:xfrm>
            <a:off x="6126480" y="2898648"/>
            <a:ext cx="2788920" cy="54864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63240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93408" y="302666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 / TLS 1.3 + Helmet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6263640" y="3493008"/>
            <a:ext cx="2542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traffic encrypted. Helmet enforces CSP, HSTS, X-Frame-Options, X-Content-Type-Options headers.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560320" cy="256032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91440" y="4114800"/>
            <a:ext cx="1463040" cy="146304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73152"/>
            <a:ext cx="8046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Control (RBAC)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 1 — Security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1993392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252728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126187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4320" y="1673352"/>
            <a:ext cx="1993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1"/>
          <p:cNvSpPr/>
          <p:nvPr/>
        </p:nvSpPr>
        <p:spPr>
          <a:xfrm>
            <a:off x="274320" y="1673352"/>
            <a:ext cx="91440" cy="3017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438912" y="1764792"/>
            <a:ext cx="178308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own approved grades only
</a:t>
            </a: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submit or approve grades
</a:t>
            </a: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access audit logs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423160" y="1170432"/>
            <a:ext cx="1993392" cy="502920"/>
          </a:xfrm>
          <a:prstGeom prst="rect">
            <a:avLst/>
          </a:prstGeom>
          <a:solidFill>
            <a:srgbClr val="2D7A2D"/>
          </a:solidFill>
          <a:ln w="12700">
            <a:solidFill>
              <a:srgbClr val="2D7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252728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62072" y="126187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423160" y="1673352"/>
            <a:ext cx="1993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6"/>
          <p:cNvSpPr/>
          <p:nvPr/>
        </p:nvSpPr>
        <p:spPr>
          <a:xfrm>
            <a:off x="2423160" y="1673352"/>
            <a:ext cx="91440" cy="3017520"/>
          </a:xfrm>
          <a:prstGeom prst="rect">
            <a:avLst/>
          </a:prstGeom>
          <a:solidFill>
            <a:srgbClr val="2D7A2D"/>
          </a:solidFill>
          <a:ln w="12700">
            <a:solidFill>
              <a:srgbClr val="2D7A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7"/>
          <p:cNvSpPr/>
          <p:nvPr/>
        </p:nvSpPr>
        <p:spPr>
          <a:xfrm>
            <a:off x="2587752" y="1764792"/>
            <a:ext cx="178308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D7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 new grade records
</a:t>
            </a:r>
            <a:r>
              <a:rPr lang="en-US" sz="1200" b="1" dirty="0">
                <a:solidFill>
                  <a:srgbClr val="2D7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Grades stored as PENDING status
</a:t>
            </a:r>
            <a:r>
              <a:rPr lang="en-US" sz="1200" b="1" dirty="0">
                <a:solidFill>
                  <a:srgbClr val="2D7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approve own submissions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0" y="1170432"/>
            <a:ext cx="1993392" cy="502920"/>
          </a:xfrm>
          <a:prstGeom prst="rect">
            <a:avLst/>
          </a:prstGeom>
          <a:solidFill>
            <a:srgbClr val="7C3D94"/>
          </a:solidFill>
          <a:ln w="12700">
            <a:solidFill>
              <a:srgbClr val="7C3D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252728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10912" y="126187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HoD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572000" y="1673352"/>
            <a:ext cx="1993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1"/>
          <p:cNvSpPr/>
          <p:nvPr/>
        </p:nvSpPr>
        <p:spPr>
          <a:xfrm>
            <a:off x="4572000" y="1673352"/>
            <a:ext cx="91440" cy="3017520"/>
          </a:xfrm>
          <a:prstGeom prst="rect">
            <a:avLst/>
          </a:prstGeom>
          <a:solidFill>
            <a:srgbClr val="7C3D94"/>
          </a:solidFill>
          <a:ln w="12700">
            <a:solidFill>
              <a:srgbClr val="7C3D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2"/>
          <p:cNvSpPr/>
          <p:nvPr/>
        </p:nvSpPr>
        <p:spPr>
          <a:xfrm>
            <a:off x="4736592" y="1764792"/>
            <a:ext cx="178308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7C3D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all pending grades
</a:t>
            </a:r>
            <a:r>
              <a:rPr lang="en-US" sz="1200" b="1" dirty="0">
                <a:solidFill>
                  <a:srgbClr val="7C3D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 or Reject submissions
</a:t>
            </a:r>
            <a:r>
              <a:rPr lang="en-US" sz="1200" b="1" dirty="0">
                <a:solidFill>
                  <a:srgbClr val="7C3D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grade audit events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720840" y="1170432"/>
            <a:ext cx="1993392" cy="502920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1252728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59752" y="126187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6720840" y="1673352"/>
            <a:ext cx="19933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26"/>
          <p:cNvSpPr/>
          <p:nvPr/>
        </p:nvSpPr>
        <p:spPr>
          <a:xfrm>
            <a:off x="6720840" y="1673352"/>
            <a:ext cx="91440" cy="3017520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27"/>
          <p:cNvSpPr/>
          <p:nvPr/>
        </p:nvSpPr>
        <p:spPr>
          <a:xfrm>
            <a:off x="6885432" y="1764792"/>
            <a:ext cx="178308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B852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system access
</a:t>
            </a:r>
            <a:r>
              <a:rPr lang="en-US" sz="1200" b="1" dirty="0">
                <a:solidFill>
                  <a:srgbClr val="B852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all grades &amp; users
</a:t>
            </a:r>
            <a:r>
              <a:rPr lang="en-US" sz="1200" b="1" dirty="0">
                <a:solidFill>
                  <a:srgbClr val="B852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complete audit logs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API request: JWT Verify  →  Role Check  →  Handler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560320" cy="256032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91440" y="4114800"/>
            <a:ext cx="1463040" cy="146304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73152"/>
            <a:ext cx="8046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 1 — Security Requirements &amp; Planning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20040" y="114300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STRIDE Threat Model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20040" y="1508760"/>
          <a:ext cx="4114800" cy="3054096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Mitigation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Spoofing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bcrypt hash + JWT signature verify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Tampering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Parameterized SQL + digital signatures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Repudiation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Immutable chained audit log entries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Info Disclosure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Generic error messages; no stack traces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Denial of Service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Rate limiter: 50 req/15 min/IP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Elevation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 middleware on every endpoint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1508760"/>
            <a:ext cx="4114800" cy="38404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411480" y="150876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</a:t>
            </a:r>
            <a:r>
              <a:rPr lang="en-US" sz="1200" dirty="0">
                <a:solidFill>
                  <a:srgbClr val="A0B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Mitigation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114300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Risk Ratings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1508760"/>
            <a:ext cx="3063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7818120" y="1508760"/>
            <a:ext cx="1024128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4828032" y="150876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18120" y="1508760"/>
            <a:ext cx="10241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1929384"/>
            <a:ext cx="3063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7818120" y="1929384"/>
            <a:ext cx="102412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4828032" y="192938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 Attacks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18120" y="1929384"/>
            <a:ext cx="10241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2350008"/>
            <a:ext cx="3063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1"/>
          <p:cNvSpPr/>
          <p:nvPr/>
        </p:nvSpPr>
        <p:spPr>
          <a:xfrm>
            <a:off x="7818120" y="2350008"/>
            <a:ext cx="102412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4828032" y="2350008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Brute Force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818120" y="2350008"/>
            <a:ext cx="10241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2770632"/>
            <a:ext cx="3063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5"/>
          <p:cNvSpPr/>
          <p:nvPr/>
        </p:nvSpPr>
        <p:spPr>
          <a:xfrm>
            <a:off x="7818120" y="2770632"/>
            <a:ext cx="1024128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6"/>
          <p:cNvSpPr/>
          <p:nvPr/>
        </p:nvSpPr>
        <p:spPr>
          <a:xfrm>
            <a:off x="4828032" y="277063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Modification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818120" y="2770632"/>
            <a:ext cx="10241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54880" y="3191256"/>
            <a:ext cx="3063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29"/>
          <p:cNvSpPr/>
          <p:nvPr/>
        </p:nvSpPr>
        <p:spPr>
          <a:xfrm>
            <a:off x="7818120" y="3191256"/>
            <a:ext cx="102412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0"/>
          <p:cNvSpPr/>
          <p:nvPr/>
        </p:nvSpPr>
        <p:spPr>
          <a:xfrm>
            <a:off x="4828032" y="3191256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Tampering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818120" y="3191256"/>
            <a:ext cx="10241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754880" y="3611880"/>
            <a:ext cx="3063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3"/>
          <p:cNvSpPr/>
          <p:nvPr/>
        </p:nvSpPr>
        <p:spPr>
          <a:xfrm>
            <a:off x="7818120" y="3611880"/>
            <a:ext cx="102412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4"/>
          <p:cNvSpPr/>
          <p:nvPr/>
        </p:nvSpPr>
        <p:spPr>
          <a:xfrm>
            <a:off x="4828032" y="361188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Privilege Escalation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818120" y="3611880"/>
            <a:ext cx="10241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754880" y="4032504"/>
            <a:ext cx="3063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7"/>
          <p:cNvSpPr/>
          <p:nvPr/>
        </p:nvSpPr>
        <p:spPr>
          <a:xfrm>
            <a:off x="7818120" y="4032504"/>
            <a:ext cx="102412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8"/>
          <p:cNvSpPr/>
          <p:nvPr/>
        </p:nvSpPr>
        <p:spPr>
          <a:xfrm>
            <a:off x="4828032" y="403250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MITM / Eavesdropping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818120" y="4032504"/>
            <a:ext cx="10241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754880" y="4453128"/>
            <a:ext cx="3063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 41"/>
          <p:cNvSpPr/>
          <p:nvPr/>
        </p:nvSpPr>
        <p:spPr>
          <a:xfrm>
            <a:off x="7818120" y="4453128"/>
            <a:ext cx="102412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2"/>
          <p:cNvSpPr/>
          <p:nvPr/>
        </p:nvSpPr>
        <p:spPr>
          <a:xfrm>
            <a:off x="4828032" y="4453128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 Tampering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818120" y="4453128"/>
            <a:ext cx="10241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560320" cy="256032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91440" y="4114800"/>
            <a:ext cx="1463040" cy="146304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73152"/>
            <a:ext cx="8046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 2 — Secure Implementation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27432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274320" y="1115568"/>
            <a:ext cx="2743200" cy="4572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1170432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Layer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84048" y="1664208"/>
            <a:ext cx="2514600" cy="3063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/auth/register — Zod validation → bcrypt hash → UUID → audit log
</a:t>
            </a: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/auth/login — bcrypt compare → JWT (1hr expiry) → audit log
</a:t>
            </a: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limiter: 50 req / 15 min / IP → HTTP 429
</a:t>
            </a: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normalised to lowercase before lookup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182112" y="1115568"/>
            <a:ext cx="2743200" cy="3730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3182112" y="1115568"/>
            <a:ext cx="2743200" cy="4572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170432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85032" y="1170432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Lifecycle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291840" y="1664208"/>
            <a:ext cx="2514600" cy="3063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/grades — Instructor JWT + Zod → SHA-256 signature → PENDING
</a:t>
            </a: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/grades — HoD/Admin only → lists pending submissions
</a:t>
            </a: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/grades/:id — HoD approve/reject → audit log update
</a:t>
            </a: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/grades/logs — Admin only immutable audit viewer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89904" y="1115568"/>
            <a:ext cx="27432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7"/>
          <p:cNvSpPr/>
          <p:nvPr/>
        </p:nvSpPr>
        <p:spPr>
          <a:xfrm>
            <a:off x="6089904" y="1115568"/>
            <a:ext cx="2743200" cy="4572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17043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92824" y="1170432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Middleware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199632" y="1664208"/>
            <a:ext cx="2514600" cy="3063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authmiddleware.js — JWT verify on every protected route
</a:t>
            </a: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rolemiddleware.js — exact role match, HTTP 403 otherwise
</a:t>
            </a: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auditlogger.js — SHA-256 chained log, blockchain-style
</a:t>
            </a:r>
            <a:r>
              <a:rPr lang="en-US" sz="11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</a:t>
            </a: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Helmet CSP + HSTS; 10 KB body size limit; HTTPS-only startup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560320" cy="256032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91440" y="4114800"/>
            <a:ext cx="1463040" cy="146304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73152"/>
            <a:ext cx="8046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 3 — DAST Security Testing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OWASP ZAP-style automated scan ·33 · Target: https://localhost:5000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1993392" cy="1188720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274320" y="1170432"/>
            <a:ext cx="19933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74320" y="1773936"/>
            <a:ext cx="19933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Tests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1115568"/>
            <a:ext cx="1993392" cy="1188720"/>
          </a:xfrm>
          <a:prstGeom prst="rect">
            <a:avLst/>
          </a:prstGeom>
          <a:solidFill>
            <a:srgbClr val="DCFCE7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2423160" y="1170432"/>
            <a:ext cx="19933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2423160" y="1773936"/>
            <a:ext cx="19933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Passed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115568"/>
            <a:ext cx="1993392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72000" y="1170432"/>
            <a:ext cx="19933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572000" y="1773936"/>
            <a:ext cx="19933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1115568"/>
            <a:ext cx="1993392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720840" y="1170432"/>
            <a:ext cx="19933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720840" y="1773936"/>
            <a:ext cx="19933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248716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by Test Group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2834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Injection (6)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33472" y="2898648"/>
            <a:ext cx="1737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2633472" y="2898648"/>
            <a:ext cx="173736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389120" y="28346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6/6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21868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 (3)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33472" y="3282696"/>
            <a:ext cx="1737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2633472" y="3282696"/>
            <a:ext cx="115824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4389120" y="321868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2/3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3602736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Bypass (3)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33472" y="3666744"/>
            <a:ext cx="1737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2633472" y="3666744"/>
            <a:ext cx="173736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4389120" y="360273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3/3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3986784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Brute Force (1)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33472" y="4050792"/>
            <a:ext cx="1737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2633472" y="4050792"/>
            <a:ext cx="173736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4389120" y="39867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1/1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437083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Privilege Escalation (6)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33472" y="4434840"/>
            <a:ext cx="1737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2633472" y="4434840"/>
            <a:ext cx="173736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4389120" y="43708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6/6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" y="475488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Headers (4)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633472" y="4818888"/>
            <a:ext cx="1737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2633472" y="4818888"/>
            <a:ext cx="173736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4389120" y="4754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4/4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2834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Malformed Input (4)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269480" y="2898648"/>
            <a:ext cx="1645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Shape 47"/>
          <p:cNvSpPr/>
          <p:nvPr/>
        </p:nvSpPr>
        <p:spPr>
          <a:xfrm>
            <a:off x="7269480" y="2898648"/>
            <a:ext cx="164592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8"/>
          <p:cNvSpPr/>
          <p:nvPr/>
        </p:nvSpPr>
        <p:spPr>
          <a:xfrm>
            <a:off x="8942832" y="28346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4/4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Traversal (2)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269480" y="3282696"/>
            <a:ext cx="1645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7269480" y="3282696"/>
            <a:ext cx="164592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8942832" y="321868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2/2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92040" y="3602736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Tampering (4)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269480" y="3666744"/>
            <a:ext cx="1645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Shape 55"/>
          <p:cNvSpPr/>
          <p:nvPr/>
        </p:nvSpPr>
        <p:spPr>
          <a:xfrm>
            <a:off x="7269480" y="3666744"/>
            <a:ext cx="164592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 56"/>
          <p:cNvSpPr/>
          <p:nvPr/>
        </p:nvSpPr>
        <p:spPr>
          <a:xfrm>
            <a:off x="8942832" y="360273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4/4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92040" y="3986784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IDOR (2)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269480" y="4050792"/>
            <a:ext cx="1645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Shape 59"/>
          <p:cNvSpPr/>
          <p:nvPr/>
        </p:nvSpPr>
        <p:spPr>
          <a:xfrm>
            <a:off x="7269480" y="4050792"/>
            <a:ext cx="82296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 60"/>
          <p:cNvSpPr/>
          <p:nvPr/>
        </p:nvSpPr>
        <p:spPr>
          <a:xfrm>
            <a:off x="8942832" y="39867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1/2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892040" y="437083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 Coverage (2)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269480" y="4434840"/>
            <a:ext cx="1645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8942832" y="43708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0/2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560320" cy="256032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91440" y="4114800"/>
            <a:ext cx="1463040" cy="146304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73152"/>
            <a:ext cx="8046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Findings &amp; Remediation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findings identified — 0 critical — all remediable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274320" y="1115568"/>
            <a:ext cx="411480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" y="11521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XSS-2  ·  Low Severity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" y="149961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 Field Accepts XSS Payload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84048" y="181051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password field in registration accepted &lt;img src=x onerror=alert(1)&gt;. Exploitability is negligible — bcrypt hashes the payload before storage and it is never reflected back.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4048" y="2414016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</a:t>
            </a: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.transform(stripHTML) to password schema in authValidator.js using Zod's transform API.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36592" y="1115568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5"/>
          <p:cNvSpPr/>
          <p:nvPr/>
        </p:nvSpPr>
        <p:spPr>
          <a:xfrm>
            <a:off x="4736592" y="1115568"/>
            <a:ext cx="411480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170432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20640" y="11521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IDOR-2  ·  Medium Severity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46320" y="149961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Can View All Grade Records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846320" y="181051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/grades/my fetches ALL grades without filtering by logged-in user's ID. A student can see every other student's grades in the system.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46320" y="2414016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</a:t>
            </a: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WHERE student_email = $1 clause to the query, binding req.user.email from the verified JWT.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74320" y="3035808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1"/>
          <p:cNvSpPr/>
          <p:nvPr/>
        </p:nvSpPr>
        <p:spPr>
          <a:xfrm>
            <a:off x="274320" y="3035808"/>
            <a:ext cx="411480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090672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8368" y="30723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AUDIT-1  ·  Medium Severity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84048" y="341985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Failed Login Attempts Not Logged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384048" y="373075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logins and registrations are logged. Failed authentication events (wrong password) are silently dropped, removing visibility into credential stuffing attacks.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384048" y="4334256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</a:t>
            </a: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addLog() in the error branch of POST /auth/login with action: 'FAILED_LOGIN'.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736592" y="3035808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27"/>
          <p:cNvSpPr/>
          <p:nvPr/>
        </p:nvSpPr>
        <p:spPr>
          <a:xfrm>
            <a:off x="4736592" y="3035808"/>
            <a:ext cx="411480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3090672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20640" y="30723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AUDIT-2  ·  Medium Severity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846320" y="341985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Rate-Limit &amp; 403 Events Not Logged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4846320" y="373075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429 (rate limited) and HTTP 403 (role violation) events are not captured in the audit log. These are primary signals of active attack behaviour.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4846320" y="4334256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</a:t>
            </a: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audit log calls to the rate limiter's onLimitReached handler and to rolemiddleware.js 403 path.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560320" cy="256032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91440" y="4114800"/>
            <a:ext cx="1463040" cy="1463040"/>
          </a:xfrm>
          <a:prstGeom prst="ellipse">
            <a:avLst/>
          </a:prstGeom>
          <a:solidFill>
            <a:srgbClr val="2E4A7A">
              <a:alpha val="6000"/>
            </a:srgbClr>
          </a:solidFill>
          <a:ln w="6350">
            <a:solidFill>
              <a:srgbClr val="2E4A7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73152"/>
            <a:ext cx="8046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Posture Summary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 3 — Secure code review &amp; overall assessment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Code Review — Positives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554480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52704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server.js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19072" y="15270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 server exits on missing SSL certs (process.exit)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1911096"/>
            <a:ext cx="4206240" cy="365760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98424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" y="195681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server.js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719072" y="195681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body limited to 10 KB — DoS mitigation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274320" y="2340864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41401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" y="238658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auth.js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719072" y="23865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normalised to lowercase — bypass prevention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74320" y="2770632"/>
            <a:ext cx="4206240" cy="365760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84378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080" y="28163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auth.js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719072" y="28163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validated against whitelist on register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274320" y="3200400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3273552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0080" y="32461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auditlogger.js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719072" y="32461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chain — retroactive tampering detectable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74320" y="3630168"/>
            <a:ext cx="4206240" cy="365760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370332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0080" y="36758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grades.js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719072" y="36758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signatures with instructor ID + timestamp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274320" y="4059936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133088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080" y="410565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1719072" y="41056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escapeHTML() on all DOM insertions — XSS blocked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274320" y="4489704"/>
            <a:ext cx="4206240" cy="365760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562856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40080" y="453542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E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db.js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1719072" y="45354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Parameterised queries system-wide — no SQL injection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4846320" y="111556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Status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4846320" y="1481328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Shape 35"/>
          <p:cNvSpPr/>
          <p:nvPr/>
        </p:nvSpPr>
        <p:spPr>
          <a:xfrm>
            <a:off x="7818120" y="1481328"/>
            <a:ext cx="1024128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36"/>
          <p:cNvSpPr/>
          <p:nvPr/>
        </p:nvSpPr>
        <p:spPr>
          <a:xfrm>
            <a:off x="4919472" y="15087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(JWT + bcrypt)</a:t>
            </a:r>
            <a:endParaRPr lang="en-US" sz="1150" dirty="0"/>
          </a:p>
        </p:txBody>
      </p:sp>
      <p:sp>
        <p:nvSpPr>
          <p:cNvPr id="47" name="Text 37"/>
          <p:cNvSpPr/>
          <p:nvPr/>
        </p:nvSpPr>
        <p:spPr>
          <a:xfrm>
            <a:off x="7818120" y="1508760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4846320" y="1874520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Shape 39"/>
          <p:cNvSpPr/>
          <p:nvPr/>
        </p:nvSpPr>
        <p:spPr>
          <a:xfrm>
            <a:off x="7818120" y="1874520"/>
            <a:ext cx="1024128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0"/>
          <p:cNvSpPr/>
          <p:nvPr/>
        </p:nvSpPr>
        <p:spPr>
          <a:xfrm>
            <a:off x="4919472" y="19019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Enforcement</a:t>
            </a:r>
            <a:endParaRPr lang="en-US" sz="1150" dirty="0"/>
          </a:p>
        </p:txBody>
      </p:sp>
      <p:sp>
        <p:nvSpPr>
          <p:cNvPr id="51" name="Text 41"/>
          <p:cNvSpPr/>
          <p:nvPr/>
        </p:nvSpPr>
        <p:spPr>
          <a:xfrm>
            <a:off x="7818120" y="1901952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4846320" y="2267712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43"/>
          <p:cNvSpPr/>
          <p:nvPr/>
        </p:nvSpPr>
        <p:spPr>
          <a:xfrm>
            <a:off x="7818120" y="2267712"/>
            <a:ext cx="1024128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44"/>
          <p:cNvSpPr/>
          <p:nvPr/>
        </p:nvSpPr>
        <p:spPr>
          <a:xfrm>
            <a:off x="4919472" y="229514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Injection Prevention</a:t>
            </a:r>
            <a:endParaRPr lang="en-US" sz="1150" dirty="0"/>
          </a:p>
        </p:txBody>
      </p:sp>
      <p:sp>
        <p:nvSpPr>
          <p:cNvPr id="55" name="Text 45"/>
          <p:cNvSpPr/>
          <p:nvPr/>
        </p:nvSpPr>
        <p:spPr>
          <a:xfrm>
            <a:off x="7818120" y="2295144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</a:t>
            </a:r>
            <a:endParaRPr lang="en-US" sz="1100" dirty="0"/>
          </a:p>
        </p:txBody>
      </p:sp>
      <p:sp>
        <p:nvSpPr>
          <p:cNvPr id="56" name="Shape 46"/>
          <p:cNvSpPr/>
          <p:nvPr/>
        </p:nvSpPr>
        <p:spPr>
          <a:xfrm>
            <a:off x="4846320" y="2660904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Shape 47"/>
          <p:cNvSpPr/>
          <p:nvPr/>
        </p:nvSpPr>
        <p:spPr>
          <a:xfrm>
            <a:off x="7818120" y="2660904"/>
            <a:ext cx="1024128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 48"/>
          <p:cNvSpPr/>
          <p:nvPr/>
        </p:nvSpPr>
        <p:spPr>
          <a:xfrm>
            <a:off x="4919472" y="268833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 Encryption (HTTPS)</a:t>
            </a:r>
            <a:endParaRPr lang="en-US" sz="1150" dirty="0"/>
          </a:p>
        </p:txBody>
      </p:sp>
      <p:sp>
        <p:nvSpPr>
          <p:cNvPr id="59" name="Text 49"/>
          <p:cNvSpPr/>
          <p:nvPr/>
        </p:nvSpPr>
        <p:spPr>
          <a:xfrm>
            <a:off x="7818120" y="2688336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</a:t>
            </a:r>
            <a:endParaRPr lang="en-US" sz="1100" dirty="0"/>
          </a:p>
        </p:txBody>
      </p:sp>
      <p:sp>
        <p:nvSpPr>
          <p:cNvPr id="60" name="Shape 50"/>
          <p:cNvSpPr/>
          <p:nvPr/>
        </p:nvSpPr>
        <p:spPr>
          <a:xfrm>
            <a:off x="4846320" y="3054096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Shape 51"/>
          <p:cNvSpPr/>
          <p:nvPr/>
        </p:nvSpPr>
        <p:spPr>
          <a:xfrm>
            <a:off x="7818120" y="3054096"/>
            <a:ext cx="1024128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 52"/>
          <p:cNvSpPr/>
          <p:nvPr/>
        </p:nvSpPr>
        <p:spPr>
          <a:xfrm>
            <a:off x="4919472" y="30815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Headers (Helmet)</a:t>
            </a:r>
            <a:endParaRPr lang="en-US" sz="1150" dirty="0"/>
          </a:p>
        </p:txBody>
      </p:sp>
      <p:sp>
        <p:nvSpPr>
          <p:cNvPr id="63" name="Text 53"/>
          <p:cNvSpPr/>
          <p:nvPr/>
        </p:nvSpPr>
        <p:spPr>
          <a:xfrm>
            <a:off x="7818120" y="3081528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</a:t>
            </a:r>
            <a:endParaRPr lang="en-US" sz="1100" dirty="0"/>
          </a:p>
        </p:txBody>
      </p:sp>
      <p:sp>
        <p:nvSpPr>
          <p:cNvPr id="64" name="Shape 54"/>
          <p:cNvSpPr/>
          <p:nvPr/>
        </p:nvSpPr>
        <p:spPr>
          <a:xfrm>
            <a:off x="4846320" y="3447288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Shape 55"/>
          <p:cNvSpPr/>
          <p:nvPr/>
        </p:nvSpPr>
        <p:spPr>
          <a:xfrm>
            <a:off x="7818120" y="3447288"/>
            <a:ext cx="1024128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Text 56"/>
          <p:cNvSpPr/>
          <p:nvPr/>
        </p:nvSpPr>
        <p:spPr>
          <a:xfrm>
            <a:off x="4919472" y="34747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Limiting</a:t>
            </a:r>
            <a:endParaRPr lang="en-US" sz="1150" dirty="0"/>
          </a:p>
        </p:txBody>
      </p:sp>
      <p:sp>
        <p:nvSpPr>
          <p:cNvPr id="67" name="Text 57"/>
          <p:cNvSpPr/>
          <p:nvPr/>
        </p:nvSpPr>
        <p:spPr>
          <a:xfrm>
            <a:off x="7818120" y="3474720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</a:t>
            </a:r>
            <a:endParaRPr lang="en-US" sz="1100" dirty="0"/>
          </a:p>
        </p:txBody>
      </p:sp>
      <p:sp>
        <p:nvSpPr>
          <p:cNvPr id="68" name="Shape 58"/>
          <p:cNvSpPr/>
          <p:nvPr/>
        </p:nvSpPr>
        <p:spPr>
          <a:xfrm>
            <a:off x="4846320" y="3840480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59"/>
          <p:cNvSpPr/>
          <p:nvPr/>
        </p:nvSpPr>
        <p:spPr>
          <a:xfrm>
            <a:off x="7818120" y="3840480"/>
            <a:ext cx="1024128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 60"/>
          <p:cNvSpPr/>
          <p:nvPr/>
        </p:nvSpPr>
        <p:spPr>
          <a:xfrm>
            <a:off x="4919472" y="386791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 Prevention</a:t>
            </a:r>
            <a:endParaRPr lang="en-US" sz="1150" dirty="0"/>
          </a:p>
        </p:txBody>
      </p:sp>
      <p:sp>
        <p:nvSpPr>
          <p:cNvPr id="71" name="Text 61"/>
          <p:cNvSpPr/>
          <p:nvPr/>
        </p:nvSpPr>
        <p:spPr>
          <a:xfrm>
            <a:off x="7818120" y="3867912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</a:t>
            </a:r>
            <a:endParaRPr lang="en-US" sz="1100" dirty="0"/>
          </a:p>
        </p:txBody>
      </p:sp>
      <p:sp>
        <p:nvSpPr>
          <p:cNvPr id="72" name="Shape 62"/>
          <p:cNvSpPr/>
          <p:nvPr/>
        </p:nvSpPr>
        <p:spPr>
          <a:xfrm>
            <a:off x="4846320" y="4233672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Shape 63"/>
          <p:cNvSpPr/>
          <p:nvPr/>
        </p:nvSpPr>
        <p:spPr>
          <a:xfrm>
            <a:off x="7818120" y="4233672"/>
            <a:ext cx="1024128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4" name="Text 64"/>
          <p:cNvSpPr/>
          <p:nvPr/>
        </p:nvSpPr>
        <p:spPr>
          <a:xfrm>
            <a:off x="4919472" y="42611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Logging</a:t>
            </a:r>
            <a:endParaRPr lang="en-US" sz="1150" dirty="0"/>
          </a:p>
        </p:txBody>
      </p:sp>
      <p:sp>
        <p:nvSpPr>
          <p:cNvPr id="75" name="Text 65"/>
          <p:cNvSpPr/>
          <p:nvPr/>
        </p:nvSpPr>
        <p:spPr>
          <a:xfrm>
            <a:off x="7818120" y="4261104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</a:t>
            </a:r>
            <a:endParaRPr lang="en-US" sz="1100" dirty="0"/>
          </a:p>
        </p:txBody>
      </p:sp>
      <p:sp>
        <p:nvSpPr>
          <p:cNvPr id="76" name="Shape 66"/>
          <p:cNvSpPr/>
          <p:nvPr/>
        </p:nvSpPr>
        <p:spPr>
          <a:xfrm>
            <a:off x="4846320" y="4626864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7" name="Shape 67"/>
          <p:cNvSpPr/>
          <p:nvPr/>
        </p:nvSpPr>
        <p:spPr>
          <a:xfrm>
            <a:off x="7818120" y="4626864"/>
            <a:ext cx="1024128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8" name="Text 68"/>
          <p:cNvSpPr/>
          <p:nvPr/>
        </p:nvSpPr>
        <p:spPr>
          <a:xfrm>
            <a:off x="4919472" y="46542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IDOR Prevention</a:t>
            </a:r>
            <a:endParaRPr lang="en-US" sz="1150" dirty="0"/>
          </a:p>
        </p:txBody>
      </p:sp>
      <p:sp>
        <p:nvSpPr>
          <p:cNvPr id="79" name="Text 69"/>
          <p:cNvSpPr/>
          <p:nvPr/>
        </p:nvSpPr>
        <p:spPr>
          <a:xfrm>
            <a:off x="7818120" y="4654296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2E4A7A">
              <a:alpha val="35000"/>
            </a:srgbClr>
          </a:solidFill>
          <a:ln w="12700">
            <a:solidFill>
              <a:srgbClr val="4A7E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-731520" y="-274320"/>
            <a:ext cx="3657600" cy="3657600"/>
          </a:xfrm>
          <a:prstGeom prst="ellipse">
            <a:avLst/>
          </a:prstGeom>
          <a:solidFill>
            <a:srgbClr val="4A7EC4">
              <a:alpha val="22000"/>
            </a:srgbClr>
          </a:solidFill>
          <a:ln w="6350">
            <a:solidFill>
              <a:srgbClr val="4A7E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E4A7A">
              <a:alpha val="35000"/>
            </a:srgbClr>
          </a:solidFill>
          <a:ln w="12700">
            <a:solidFill>
              <a:srgbClr val="4A7E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406640" y="3291840"/>
            <a:ext cx="2286000" cy="2286000"/>
          </a:xfrm>
          <a:prstGeom prst="ellipse">
            <a:avLst/>
          </a:prstGeom>
          <a:solidFill>
            <a:srgbClr val="4A7EC4">
              <a:alpha val="20000"/>
            </a:srgbClr>
          </a:solidFill>
          <a:ln w="6350">
            <a:solidFill>
              <a:srgbClr val="4A7E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EC4"/>
          </a:solidFill>
          <a:ln w="12700">
            <a:solidFill>
              <a:srgbClr val="4A7E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0292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6583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1280160" y="265176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7A9E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3200" dirty="0">
              <a:solidFill>
                <a:srgbClr val="7A9EC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80160" y="3273552"/>
            <a:ext cx="6583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365760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80160" y="4151376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451713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71800" y="4151376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971800" y="451713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63440" y="4151376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663440" y="451713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55080" y="4151376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55080" y="451713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6522</Words>
  <Application>WPS Presentation</Application>
  <PresentationFormat>On-screen Show (16:9)</PresentationFormat>
  <Paragraphs>384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Digital Grade Vetting System</dc:title>
  <dc:creator>Mahnoor Omer, Bushra Naz, Shariq Saqib</dc:creator>
  <dc:subject>PptxGenJS Presentation</dc:subject>
  <cp:lastModifiedBy>Bushra naz</cp:lastModifiedBy>
  <cp:revision>3</cp:revision>
  <dcterms:created xsi:type="dcterms:W3CDTF">2026-05-05T10:56:00Z</dcterms:created>
  <dcterms:modified xsi:type="dcterms:W3CDTF">2026-05-05T13:44:16Z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AB93BC013D064CA2B9C625E1614EFBC6_12</vt:lpwstr>
  </property>
  <property fmtid="{D5CDD505-2E9C-101B-9397-08002B2CF9AE}" pid="3" name="KSOProductBuildVer">
    <vt:lpwstr>1033-12.1.0.25242</vt:lpwstr>
  </property>
</Properties>
</file>